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59"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2071937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40132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48A87A34-81AB-432B-8DAE-1953F412C126}" type="datetimeFigureOut">
              <a:rPr lang="en-US" smtClean="0"/>
              <a:t>5/3/2025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2081750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69467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31678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56204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03924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5/3/2025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51314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5/3/2025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13237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80972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02205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48A87A34-81AB-432B-8DAE-1953F412C126}" type="datetimeFigureOut">
              <a:rPr lang="en-US" smtClean="0"/>
              <a:pPr/>
              <a:t>5/3/2025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28826848"/>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7.tmp"/><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image" Target="../media/image9.tmp"/><Relationship Id="rId1" Type="http://schemas.openxmlformats.org/officeDocument/2006/relationships/slideLayout" Target="../slideLayouts/slideLayout7.xml"/><Relationship Id="rId4" Type="http://schemas.openxmlformats.org/officeDocument/2006/relationships/image" Target="../media/image11.tmp"/></Relationships>
</file>

<file path=ppt/slides/_rels/slide8.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image" Target="../media/image12.tmp"/><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image" Target="../media/image14.tmp"/><Relationship Id="rId1" Type="http://schemas.openxmlformats.org/officeDocument/2006/relationships/slideLayout" Target="../slideLayouts/slideLayout7.xml"/><Relationship Id="rId5" Type="http://schemas.openxmlformats.org/officeDocument/2006/relationships/image" Target="../media/image17.tmp"/><Relationship Id="rId4" Type="http://schemas.openxmlformats.org/officeDocument/2006/relationships/image" Target="../media/image16.tmp"/></Relationships>
</file>

<file path=ppt/slides/_rels/slide10.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image" Target="../media/image19.tmp"/><Relationship Id="rId1" Type="http://schemas.openxmlformats.org/officeDocument/2006/relationships/slideLayout" Target="../slideLayouts/slideLayout7.xml"/><Relationship Id="rId4" Type="http://schemas.openxmlformats.org/officeDocument/2006/relationships/image" Target="../media/image21.tmp"/></Relationships>
</file>

<file path=ppt/slides/_rels/slide12.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4EB5D-0683-4EE2-AA64-50CFDC10E26C}"/>
              </a:ext>
            </a:extLst>
          </p:cNvPr>
          <p:cNvSpPr>
            <a:spLocks noGrp="1"/>
          </p:cNvSpPr>
          <p:nvPr>
            <p:ph type="ctrTitle"/>
          </p:nvPr>
        </p:nvSpPr>
        <p:spPr/>
        <p:txBody>
          <a:bodyPr/>
          <a:lstStyle/>
          <a:p>
            <a:r>
              <a:rPr lang="en-US" dirty="0"/>
              <a:t>Project : data cleaning in </a:t>
            </a:r>
            <a:r>
              <a:rPr lang="en-US" dirty="0" err="1"/>
              <a:t>mysql</a:t>
            </a:r>
            <a:endParaRPr lang="en-IN" dirty="0"/>
          </a:p>
        </p:txBody>
      </p:sp>
      <p:sp>
        <p:nvSpPr>
          <p:cNvPr id="3" name="Subtitle 2">
            <a:extLst>
              <a:ext uri="{FF2B5EF4-FFF2-40B4-BE49-F238E27FC236}">
                <a16:creationId xmlns:a16="http://schemas.microsoft.com/office/drawing/2014/main" id="{5790E6A9-2ABA-4AFB-B5DD-8F783C8826BF}"/>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974033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BA0C26-CBF1-4A49-AA12-F51E7BB41975}"/>
              </a:ext>
            </a:extLst>
          </p:cNvPr>
          <p:cNvSpPr/>
          <p:nvPr/>
        </p:nvSpPr>
        <p:spPr>
          <a:xfrm>
            <a:off x="1358900" y="2080260"/>
            <a:ext cx="8267700" cy="8864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latin typeface="+mj-lt"/>
              </a:rPr>
              <a:t>Objective : </a:t>
            </a:r>
          </a:p>
          <a:p>
            <a:pPr algn="ctr"/>
            <a:r>
              <a:rPr lang="en-US" sz="3600" dirty="0">
                <a:solidFill>
                  <a:schemeClr val="tx1"/>
                </a:solidFill>
                <a:latin typeface="+mj-lt"/>
              </a:rPr>
              <a:t>The Goal of this project is to clean the dataset and perform exploratory data analysis (EDA)  </a:t>
            </a:r>
          </a:p>
          <a:p>
            <a:pPr algn="ctr"/>
            <a:endParaRPr lang="en-IN" sz="4400" b="1" dirty="0">
              <a:solidFill>
                <a:schemeClr val="tx1"/>
              </a:solidFill>
              <a:latin typeface="+mj-lt"/>
            </a:endParaRPr>
          </a:p>
        </p:txBody>
      </p:sp>
    </p:spTree>
    <p:extLst>
      <p:ext uri="{BB962C8B-B14F-4D97-AF65-F5344CB8AC3E}">
        <p14:creationId xmlns:p14="http://schemas.microsoft.com/office/powerpoint/2010/main" val="4002621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3F797-33EA-4E0A-8286-42C96ED97B4A}"/>
              </a:ext>
            </a:extLst>
          </p:cNvPr>
          <p:cNvSpPr>
            <a:spLocks noGrp="1"/>
          </p:cNvSpPr>
          <p:nvPr>
            <p:ph type="title"/>
          </p:nvPr>
        </p:nvSpPr>
        <p:spPr/>
        <p:txBody>
          <a:bodyPr>
            <a:normAutofit/>
          </a:bodyPr>
          <a:lstStyle/>
          <a:p>
            <a:r>
              <a:rPr lang="en-US" sz="3600" dirty="0"/>
              <a:t>Understanding the dataset</a:t>
            </a:r>
            <a:endParaRPr lang="en-IN" sz="3600" dirty="0"/>
          </a:p>
        </p:txBody>
      </p:sp>
      <p:graphicFrame>
        <p:nvGraphicFramePr>
          <p:cNvPr id="4" name="Content Placeholder 3">
            <a:extLst>
              <a:ext uri="{FF2B5EF4-FFF2-40B4-BE49-F238E27FC236}">
                <a16:creationId xmlns:a16="http://schemas.microsoft.com/office/drawing/2014/main" id="{5073E488-FB8C-430B-BB77-122C66A05909}"/>
              </a:ext>
            </a:extLst>
          </p:cNvPr>
          <p:cNvGraphicFramePr>
            <a:graphicFrameLocks noGrp="1"/>
          </p:cNvGraphicFramePr>
          <p:nvPr>
            <p:ph idx="1"/>
            <p:extLst>
              <p:ext uri="{D42A27DB-BD31-4B8C-83A1-F6EECF244321}">
                <p14:modId xmlns:p14="http://schemas.microsoft.com/office/powerpoint/2010/main" val="921223347"/>
              </p:ext>
            </p:extLst>
          </p:nvPr>
        </p:nvGraphicFramePr>
        <p:xfrm>
          <a:off x="1574800" y="1514475"/>
          <a:ext cx="9702800" cy="4609278"/>
        </p:xfrm>
        <a:graphic>
          <a:graphicData uri="http://schemas.openxmlformats.org/drawingml/2006/table">
            <a:tbl>
              <a:tblPr firstRow="1" bandRow="1">
                <a:tableStyleId>{5A111915-BE36-4E01-A7E5-04B1672EAD32}</a:tableStyleId>
              </a:tblPr>
              <a:tblGrid>
                <a:gridCol w="2083824">
                  <a:extLst>
                    <a:ext uri="{9D8B030D-6E8A-4147-A177-3AD203B41FA5}">
                      <a16:colId xmlns:a16="http://schemas.microsoft.com/office/drawing/2014/main" val="3423332897"/>
                    </a:ext>
                  </a:extLst>
                </a:gridCol>
                <a:gridCol w="7618976">
                  <a:extLst>
                    <a:ext uri="{9D8B030D-6E8A-4147-A177-3AD203B41FA5}">
                      <a16:colId xmlns:a16="http://schemas.microsoft.com/office/drawing/2014/main" val="1957495797"/>
                    </a:ext>
                  </a:extLst>
                </a:gridCol>
              </a:tblGrid>
              <a:tr h="362035">
                <a:tc>
                  <a:txBody>
                    <a:bodyPr/>
                    <a:lstStyle/>
                    <a:p>
                      <a:r>
                        <a:rPr lang="en-US" dirty="0">
                          <a:solidFill>
                            <a:schemeClr val="tx1"/>
                          </a:solidFill>
                        </a:rPr>
                        <a:t>Column Name</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tx1"/>
                          </a:solidFill>
                        </a:rPr>
                        <a:t>Description</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8886494"/>
                  </a:ext>
                </a:extLst>
              </a:tr>
              <a:tr h="474435">
                <a:tc>
                  <a:txBody>
                    <a:bodyPr/>
                    <a:lstStyle/>
                    <a:p>
                      <a:r>
                        <a:rPr lang="en-US" dirty="0">
                          <a:latin typeface="+mj-lt"/>
                        </a:rPr>
                        <a:t>Company</a:t>
                      </a:r>
                      <a:endParaRPr lang="en-IN"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mj-lt"/>
                        </a:rPr>
                        <a:t>The name of Company where layoffs occurred.</a:t>
                      </a:r>
                      <a:endParaRPr lang="en-IN"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0321218"/>
                  </a:ext>
                </a:extLst>
              </a:tr>
              <a:tr h="474435">
                <a:tc>
                  <a:txBody>
                    <a:bodyPr/>
                    <a:lstStyle/>
                    <a:p>
                      <a:r>
                        <a:rPr lang="en-US" dirty="0"/>
                        <a:t> </a:t>
                      </a:r>
                      <a:r>
                        <a:rPr lang="en-US" dirty="0">
                          <a:latin typeface="+mj-lt"/>
                        </a:rPr>
                        <a:t>Location</a:t>
                      </a:r>
                      <a:endParaRPr lang="en-IN"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mj-lt"/>
                        </a:rPr>
                        <a:t>The location or headquarters of the company</a:t>
                      </a:r>
                      <a:endParaRPr lang="en-IN"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7980716"/>
                  </a:ext>
                </a:extLst>
              </a:tr>
              <a:tr h="447495">
                <a:tc>
                  <a:txBody>
                    <a:bodyPr/>
                    <a:lstStyle/>
                    <a:p>
                      <a:r>
                        <a:rPr lang="en-US" sz="1800" kern="1200" dirty="0">
                          <a:solidFill>
                            <a:schemeClr val="tx1"/>
                          </a:solidFill>
                          <a:latin typeface="+mj-lt"/>
                          <a:ea typeface="+mn-ea"/>
                          <a:cs typeface="+mn-cs"/>
                        </a:rPr>
                        <a:t>Industry</a:t>
                      </a:r>
                      <a:endParaRPr lang="en-IN" sz="1800" kern="1200" dirty="0">
                        <a:solidFill>
                          <a:schemeClr val="tx1"/>
                        </a:solidFill>
                        <a:latin typeface="+mj-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mj-lt"/>
                        </a:rPr>
                        <a:t>The industry sector to which the company belongs (</a:t>
                      </a:r>
                      <a:r>
                        <a:rPr lang="en-US" dirty="0" err="1">
                          <a:latin typeface="+mj-lt"/>
                        </a:rPr>
                        <a:t>eg.tech,finance,Healthcare</a:t>
                      </a:r>
                      <a:r>
                        <a:rPr lang="en-US" dirty="0">
                          <a:latin typeface="+mj-lt"/>
                        </a:rPr>
                        <a:t>)</a:t>
                      </a:r>
                      <a:endParaRPr lang="en-IN"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999280"/>
                  </a:ext>
                </a:extLst>
              </a:tr>
              <a:tr h="474435">
                <a:tc>
                  <a:txBody>
                    <a:bodyPr/>
                    <a:lstStyle/>
                    <a:p>
                      <a:r>
                        <a:rPr lang="en-US" dirty="0" err="1">
                          <a:latin typeface="+mj-lt"/>
                        </a:rPr>
                        <a:t>Total_laid_off</a:t>
                      </a:r>
                      <a:endParaRPr lang="en-IN"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mj-lt"/>
                        </a:rPr>
                        <a:t>The total number of employees laid off</a:t>
                      </a:r>
                      <a:endParaRPr lang="en-IN"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6448699"/>
                  </a:ext>
                </a:extLst>
              </a:tr>
              <a:tr h="522258">
                <a:tc>
                  <a:txBody>
                    <a:bodyPr/>
                    <a:lstStyle/>
                    <a:p>
                      <a:r>
                        <a:rPr lang="en-US" dirty="0" err="1">
                          <a:latin typeface="+mj-lt"/>
                        </a:rPr>
                        <a:t>Percentage_laid_off</a:t>
                      </a:r>
                      <a:endParaRPr lang="en-IN"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mj-lt"/>
                        </a:rPr>
                        <a:t>The percentage of Workforce affected by layoffs.</a:t>
                      </a:r>
                      <a:endParaRPr lang="en-IN"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0768347"/>
                  </a:ext>
                </a:extLst>
              </a:tr>
              <a:tr h="387420">
                <a:tc>
                  <a:txBody>
                    <a:bodyPr/>
                    <a:lstStyle/>
                    <a:p>
                      <a:r>
                        <a:rPr lang="en-US" dirty="0">
                          <a:latin typeface="+mj-lt"/>
                        </a:rPr>
                        <a:t>Date</a:t>
                      </a:r>
                      <a:endParaRPr lang="en-IN"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mj-lt"/>
                        </a:rPr>
                        <a:t>The date when the layoffs were reported.</a:t>
                      </a:r>
                      <a:endParaRPr lang="en-IN"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398015"/>
                  </a:ext>
                </a:extLst>
              </a:tr>
              <a:tr h="362035">
                <a:tc>
                  <a:txBody>
                    <a:bodyPr/>
                    <a:lstStyle/>
                    <a:p>
                      <a:r>
                        <a:rPr lang="en-US" dirty="0">
                          <a:latin typeface="+mj-lt"/>
                        </a:rPr>
                        <a:t>Stage</a:t>
                      </a:r>
                      <a:endParaRPr lang="en-IN"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mj-lt"/>
                        </a:rPr>
                        <a:t>The Business stage of the Company Operates.(</a:t>
                      </a:r>
                      <a:r>
                        <a:rPr lang="en-US" dirty="0" err="1">
                          <a:latin typeface="+mj-lt"/>
                        </a:rPr>
                        <a:t>eg.startup,Post</a:t>
                      </a:r>
                      <a:r>
                        <a:rPr lang="en-US" dirty="0">
                          <a:latin typeface="+mj-lt"/>
                        </a:rPr>
                        <a:t>-IPO)</a:t>
                      </a:r>
                      <a:endParaRPr lang="en-IN"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974096"/>
                  </a:ext>
                </a:extLst>
              </a:tr>
              <a:tr h="362035">
                <a:tc>
                  <a:txBody>
                    <a:bodyPr/>
                    <a:lstStyle/>
                    <a:p>
                      <a:r>
                        <a:rPr lang="en-US" dirty="0">
                          <a:latin typeface="+mj-lt"/>
                        </a:rPr>
                        <a:t>Country</a:t>
                      </a:r>
                      <a:endParaRPr lang="en-IN"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mj-lt"/>
                        </a:rPr>
                        <a:t>The country where the company Operates.</a:t>
                      </a:r>
                      <a:endParaRPr lang="en-IN"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353001"/>
                  </a:ext>
                </a:extLst>
              </a:tr>
              <a:tr h="362035">
                <a:tc>
                  <a:txBody>
                    <a:bodyPr/>
                    <a:lstStyle/>
                    <a:p>
                      <a:r>
                        <a:rPr lang="en-US" dirty="0" err="1">
                          <a:latin typeface="+mj-lt"/>
                        </a:rPr>
                        <a:t>Funds_Raised_Millions</a:t>
                      </a:r>
                      <a:endParaRPr lang="en-IN"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mj-lt"/>
                        </a:rPr>
                        <a:t>The total funding Raised by the Company in Millions of doll</a:t>
                      </a:r>
                      <a:endParaRPr lang="en-IN"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7952401"/>
                  </a:ext>
                </a:extLst>
              </a:tr>
              <a:tr h="362035">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9656448"/>
                  </a:ext>
                </a:extLst>
              </a:tr>
            </a:tbl>
          </a:graphicData>
        </a:graphic>
      </p:graphicFrame>
    </p:spTree>
    <p:extLst>
      <p:ext uri="{BB962C8B-B14F-4D97-AF65-F5344CB8AC3E}">
        <p14:creationId xmlns:p14="http://schemas.microsoft.com/office/powerpoint/2010/main" val="1195813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CE4AC0-DDAB-4D8F-AF5C-7F66736C0705}"/>
              </a:ext>
            </a:extLst>
          </p:cNvPr>
          <p:cNvSpPr txBox="1"/>
          <p:nvPr/>
        </p:nvSpPr>
        <p:spPr>
          <a:xfrm>
            <a:off x="1371600" y="685800"/>
            <a:ext cx="6563360" cy="2800767"/>
          </a:xfrm>
          <a:prstGeom prst="rect">
            <a:avLst/>
          </a:prstGeom>
          <a:noFill/>
        </p:spPr>
        <p:txBody>
          <a:bodyPr wrap="square" rtlCol="0">
            <a:spAutoFit/>
          </a:bodyPr>
          <a:lstStyle/>
          <a:p>
            <a:r>
              <a:rPr lang="en-US" sz="3600" dirty="0">
                <a:latin typeface="+mj-lt"/>
              </a:rPr>
              <a:t>Setting Up the Project:</a:t>
            </a:r>
          </a:p>
          <a:p>
            <a:r>
              <a:rPr lang="en-US" sz="2800" dirty="0">
                <a:latin typeface="+mj-lt"/>
              </a:rPr>
              <a:t>First I created a new database named “</a:t>
            </a:r>
            <a:r>
              <a:rPr lang="en-US" sz="2800" dirty="0" err="1">
                <a:latin typeface="+mj-lt"/>
              </a:rPr>
              <a:t>Cleandata</a:t>
            </a:r>
            <a:r>
              <a:rPr lang="en-US" sz="2800" dirty="0">
                <a:latin typeface="+mj-lt"/>
              </a:rPr>
              <a:t>” and imported the raw LAYOFFS TABLE into it . This ensured that all data cleaning steps would be carried out in separate environment without altering the original dataset</a:t>
            </a:r>
            <a:r>
              <a:rPr lang="en-US" dirty="0">
                <a:latin typeface="+mj-lt"/>
              </a:rPr>
              <a:t>.</a:t>
            </a:r>
            <a:endParaRPr lang="en-IN" dirty="0">
              <a:latin typeface="+mj-lt"/>
            </a:endParaRPr>
          </a:p>
        </p:txBody>
      </p:sp>
      <p:pic>
        <p:nvPicPr>
          <p:cNvPr id="4" name="Picture 3">
            <a:extLst>
              <a:ext uri="{FF2B5EF4-FFF2-40B4-BE49-F238E27FC236}">
                <a16:creationId xmlns:a16="http://schemas.microsoft.com/office/drawing/2014/main" id="{62C1AE0B-948D-313F-2AB6-9A5B2804DEE1}"/>
              </a:ext>
            </a:extLst>
          </p:cNvPr>
          <p:cNvPicPr>
            <a:picLocks noChangeAspect="1"/>
          </p:cNvPicPr>
          <p:nvPr/>
        </p:nvPicPr>
        <p:blipFill>
          <a:blip r:embed="rId2"/>
          <a:stretch>
            <a:fillRect/>
          </a:stretch>
        </p:blipFill>
        <p:spPr>
          <a:xfrm>
            <a:off x="1468120" y="3822302"/>
            <a:ext cx="6370319" cy="1592977"/>
          </a:xfrm>
          <a:prstGeom prst="rect">
            <a:avLst/>
          </a:prstGeom>
          <a:solidFill>
            <a:schemeClr val="accent2">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pic>
    </p:spTree>
    <p:extLst>
      <p:ext uri="{BB962C8B-B14F-4D97-AF65-F5344CB8AC3E}">
        <p14:creationId xmlns:p14="http://schemas.microsoft.com/office/powerpoint/2010/main" val="1065372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03B8F4-3E97-C473-F739-0ECD5580F649}"/>
              </a:ext>
            </a:extLst>
          </p:cNvPr>
          <p:cNvSpPr txBox="1"/>
          <p:nvPr/>
        </p:nvSpPr>
        <p:spPr>
          <a:xfrm>
            <a:off x="1706880" y="1107441"/>
            <a:ext cx="8940800" cy="3293209"/>
          </a:xfrm>
          <a:prstGeom prst="rect">
            <a:avLst/>
          </a:prstGeom>
          <a:noFill/>
        </p:spPr>
        <p:txBody>
          <a:bodyPr wrap="square" rtlCol="0">
            <a:spAutoFit/>
          </a:bodyPr>
          <a:lstStyle/>
          <a:p>
            <a:r>
              <a:rPr lang="en-IN" sz="2800" dirty="0"/>
              <a:t>When I inspecting table I noticed several issues</a:t>
            </a:r>
            <a:r>
              <a:rPr lang="en-IN" dirty="0"/>
              <a:t>:</a:t>
            </a:r>
          </a:p>
          <a:p>
            <a:pPr marL="285750" indent="-285750">
              <a:buFont typeface="Arial" panose="020B0604020202020204" pitchFamily="34" charset="0"/>
              <a:buChar char="•"/>
            </a:pPr>
            <a:r>
              <a:rPr lang="en-IN" b="1" dirty="0"/>
              <a:t>Duplicate rows</a:t>
            </a:r>
          </a:p>
          <a:p>
            <a:pPr marL="285750" indent="-285750">
              <a:buFont typeface="Arial" panose="020B0604020202020204" pitchFamily="34" charset="0"/>
              <a:buChar char="•"/>
            </a:pPr>
            <a:r>
              <a:rPr lang="en-IN" b="1" dirty="0"/>
              <a:t>Null and blank values</a:t>
            </a:r>
          </a:p>
          <a:p>
            <a:pPr marL="285750" indent="-285750">
              <a:buFont typeface="Arial" panose="020B0604020202020204" pitchFamily="34" charset="0"/>
              <a:buChar char="•"/>
            </a:pPr>
            <a:r>
              <a:rPr lang="en-IN" b="1" dirty="0"/>
              <a:t>Standardize the data</a:t>
            </a:r>
          </a:p>
          <a:p>
            <a:pPr marL="285750" indent="-285750">
              <a:buFont typeface="Arial" panose="020B0604020202020204" pitchFamily="34" charset="0"/>
              <a:buChar char="•"/>
            </a:pPr>
            <a:r>
              <a:rPr lang="en-IN" b="1" dirty="0"/>
              <a:t>Null Values or Blank Values</a:t>
            </a:r>
          </a:p>
          <a:p>
            <a:pPr marL="285750" indent="-285750">
              <a:buFont typeface="Arial" panose="020B0604020202020204" pitchFamily="34" charset="0"/>
              <a:buChar char="•"/>
            </a:pPr>
            <a:r>
              <a:rPr lang="en-IN" b="1" dirty="0"/>
              <a:t>Some columns are not stored a valid data type (</a:t>
            </a:r>
            <a:r>
              <a:rPr lang="en-IN" b="1" dirty="0" err="1"/>
              <a:t>eg.date</a:t>
            </a:r>
            <a:r>
              <a:rPr lang="en-IN" b="1" dirty="0"/>
              <a:t> column  stored as  is string  datatype instead of date datatype)</a:t>
            </a:r>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endParaRPr lang="en-IN" b="1" dirty="0"/>
          </a:p>
          <a:p>
            <a:endParaRPr lang="en-IN" b="1" dirty="0"/>
          </a:p>
          <a:p>
            <a:pPr marL="285750" indent="-285750">
              <a:buFont typeface="Arial" panose="020B0604020202020204" pitchFamily="34" charset="0"/>
              <a:buChar char="•"/>
            </a:pPr>
            <a:endParaRPr lang="en-IN" b="1" dirty="0"/>
          </a:p>
        </p:txBody>
      </p:sp>
      <p:pic>
        <p:nvPicPr>
          <p:cNvPr id="6" name="Picture 5">
            <a:extLst>
              <a:ext uri="{FF2B5EF4-FFF2-40B4-BE49-F238E27FC236}">
                <a16:creationId xmlns:a16="http://schemas.microsoft.com/office/drawing/2014/main" id="{2F83422D-4BA9-8A47-B54B-39C30BE5AF9B}"/>
              </a:ext>
            </a:extLst>
          </p:cNvPr>
          <p:cNvPicPr>
            <a:picLocks noChangeAspect="1"/>
          </p:cNvPicPr>
          <p:nvPr/>
        </p:nvPicPr>
        <p:blipFill>
          <a:blip r:embed="rId2"/>
          <a:stretch>
            <a:fillRect/>
          </a:stretch>
        </p:blipFill>
        <p:spPr>
          <a:xfrm>
            <a:off x="1544320" y="3429000"/>
            <a:ext cx="8575041" cy="3278242"/>
          </a:xfrm>
          <a:prstGeom prst="rect">
            <a:avLst/>
          </a:prstGeom>
          <a:ln>
            <a:solidFill>
              <a:schemeClr val="tx1"/>
            </a:solidFill>
          </a:ln>
        </p:spPr>
      </p:pic>
    </p:spTree>
    <p:extLst>
      <p:ext uri="{BB962C8B-B14F-4D97-AF65-F5344CB8AC3E}">
        <p14:creationId xmlns:p14="http://schemas.microsoft.com/office/powerpoint/2010/main" val="3344602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5AF3B2-16BF-DF71-A31A-104BA0197907}"/>
              </a:ext>
            </a:extLst>
          </p:cNvPr>
          <p:cNvSpPr txBox="1"/>
          <p:nvPr/>
        </p:nvSpPr>
        <p:spPr>
          <a:xfrm>
            <a:off x="1485900" y="749300"/>
            <a:ext cx="8559800" cy="1384995"/>
          </a:xfrm>
          <a:prstGeom prst="rect">
            <a:avLst/>
          </a:prstGeom>
          <a:noFill/>
        </p:spPr>
        <p:txBody>
          <a:bodyPr wrap="square" rtlCol="0">
            <a:spAutoFit/>
          </a:bodyPr>
          <a:lstStyle/>
          <a:p>
            <a:r>
              <a:rPr lang="en-IN" sz="2800" b="1" dirty="0"/>
              <a:t>To avoid affecting the original Table I create a dummy table  Called “High layoffs</a:t>
            </a:r>
          </a:p>
          <a:p>
            <a:r>
              <a:rPr lang="en-IN" sz="2800" b="1" dirty="0"/>
              <a:t>Where I Performed all Cleaning Task</a:t>
            </a:r>
          </a:p>
        </p:txBody>
      </p:sp>
      <p:pic>
        <p:nvPicPr>
          <p:cNvPr id="4" name="Picture 3">
            <a:extLst>
              <a:ext uri="{FF2B5EF4-FFF2-40B4-BE49-F238E27FC236}">
                <a16:creationId xmlns:a16="http://schemas.microsoft.com/office/drawing/2014/main" id="{83DA602B-0C3A-3B2B-2695-57842EBCAAE0}"/>
              </a:ext>
            </a:extLst>
          </p:cNvPr>
          <p:cNvPicPr>
            <a:picLocks noChangeAspect="1"/>
          </p:cNvPicPr>
          <p:nvPr/>
        </p:nvPicPr>
        <p:blipFill>
          <a:blip r:embed="rId2"/>
          <a:stretch>
            <a:fillRect/>
          </a:stretch>
        </p:blipFill>
        <p:spPr>
          <a:xfrm>
            <a:off x="2641599" y="2643126"/>
            <a:ext cx="7277101" cy="1522474"/>
          </a:xfrm>
          <a:prstGeom prst="rect">
            <a:avLst/>
          </a:prstGeom>
          <a:ln>
            <a:solidFill>
              <a:schemeClr val="tx1"/>
            </a:solidFill>
          </a:ln>
        </p:spPr>
      </p:pic>
      <p:pic>
        <p:nvPicPr>
          <p:cNvPr id="6" name="Picture 5">
            <a:extLst>
              <a:ext uri="{FF2B5EF4-FFF2-40B4-BE49-F238E27FC236}">
                <a16:creationId xmlns:a16="http://schemas.microsoft.com/office/drawing/2014/main" id="{5F6CC0F0-2C65-8DE5-8957-5216FF9997AB}"/>
              </a:ext>
            </a:extLst>
          </p:cNvPr>
          <p:cNvPicPr>
            <a:picLocks noChangeAspect="1"/>
          </p:cNvPicPr>
          <p:nvPr/>
        </p:nvPicPr>
        <p:blipFill>
          <a:blip r:embed="rId3"/>
          <a:stretch>
            <a:fillRect/>
          </a:stretch>
        </p:blipFill>
        <p:spPr>
          <a:xfrm>
            <a:off x="2641599" y="4528872"/>
            <a:ext cx="6549971" cy="1656315"/>
          </a:xfrm>
          <a:prstGeom prst="rect">
            <a:avLst/>
          </a:prstGeom>
          <a:ln>
            <a:solidFill>
              <a:schemeClr val="tx1"/>
            </a:solidFill>
          </a:ln>
        </p:spPr>
      </p:pic>
    </p:spTree>
    <p:extLst>
      <p:ext uri="{BB962C8B-B14F-4D97-AF65-F5344CB8AC3E}">
        <p14:creationId xmlns:p14="http://schemas.microsoft.com/office/powerpoint/2010/main" val="556444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09A2EB-8BF3-86F3-B09D-448EEED8714E}"/>
              </a:ext>
            </a:extLst>
          </p:cNvPr>
          <p:cNvSpPr txBox="1"/>
          <p:nvPr/>
        </p:nvSpPr>
        <p:spPr>
          <a:xfrm>
            <a:off x="647700" y="723900"/>
            <a:ext cx="5689600" cy="1077218"/>
          </a:xfrm>
          <a:prstGeom prst="rect">
            <a:avLst/>
          </a:prstGeom>
          <a:noFill/>
        </p:spPr>
        <p:txBody>
          <a:bodyPr wrap="square" rtlCol="0">
            <a:spAutoFit/>
          </a:bodyPr>
          <a:lstStyle/>
          <a:p>
            <a:r>
              <a:rPr lang="en-IN" sz="3200" b="1" dirty="0"/>
              <a:t>How I handle duplicate Records ?</a:t>
            </a:r>
          </a:p>
        </p:txBody>
      </p:sp>
      <p:sp>
        <p:nvSpPr>
          <p:cNvPr id="3" name="TextBox 2">
            <a:extLst>
              <a:ext uri="{FF2B5EF4-FFF2-40B4-BE49-F238E27FC236}">
                <a16:creationId xmlns:a16="http://schemas.microsoft.com/office/drawing/2014/main" id="{AC77358E-0718-0F6B-EAE1-A0F80898D643}"/>
              </a:ext>
            </a:extLst>
          </p:cNvPr>
          <p:cNvSpPr txBox="1"/>
          <p:nvPr/>
        </p:nvSpPr>
        <p:spPr>
          <a:xfrm rot="10800000" flipH="1" flipV="1">
            <a:off x="647700" y="1801118"/>
            <a:ext cx="5689600" cy="1631216"/>
          </a:xfrm>
          <a:prstGeom prst="rect">
            <a:avLst/>
          </a:prstGeom>
          <a:noFill/>
        </p:spPr>
        <p:txBody>
          <a:bodyPr wrap="square" rtlCol="0">
            <a:spAutoFit/>
          </a:bodyPr>
          <a:lstStyle/>
          <a:p>
            <a:r>
              <a:rPr lang="en-IN" sz="2000" dirty="0"/>
              <a:t>Since There was no Unique Identifier  for rows I used </a:t>
            </a:r>
            <a:r>
              <a:rPr lang="en-IN" sz="2000" dirty="0" err="1"/>
              <a:t>Row_number</a:t>
            </a:r>
            <a:r>
              <a:rPr lang="en-IN" sz="2000" dirty="0"/>
              <a:t>() with Partition by To Identify duplicate entries based on key Columns like Company, location, industry, layoffs, date and stage.</a:t>
            </a:r>
          </a:p>
        </p:txBody>
      </p:sp>
      <p:pic>
        <p:nvPicPr>
          <p:cNvPr id="5" name="Picture 4">
            <a:extLst>
              <a:ext uri="{FF2B5EF4-FFF2-40B4-BE49-F238E27FC236}">
                <a16:creationId xmlns:a16="http://schemas.microsoft.com/office/drawing/2014/main" id="{CC578D02-5BF0-8302-B002-4C600842B7BF}"/>
              </a:ext>
            </a:extLst>
          </p:cNvPr>
          <p:cNvPicPr>
            <a:picLocks noChangeAspect="1"/>
          </p:cNvPicPr>
          <p:nvPr/>
        </p:nvPicPr>
        <p:blipFill>
          <a:blip r:embed="rId2"/>
          <a:stretch>
            <a:fillRect/>
          </a:stretch>
        </p:blipFill>
        <p:spPr>
          <a:xfrm>
            <a:off x="6337300" y="1454244"/>
            <a:ext cx="5480290" cy="1910115"/>
          </a:xfrm>
          <a:prstGeom prst="rect">
            <a:avLst/>
          </a:prstGeom>
          <a:ln>
            <a:solidFill>
              <a:schemeClr val="tx1"/>
            </a:solidFill>
          </a:ln>
        </p:spPr>
      </p:pic>
      <p:pic>
        <p:nvPicPr>
          <p:cNvPr id="16" name="Picture 15">
            <a:extLst>
              <a:ext uri="{FF2B5EF4-FFF2-40B4-BE49-F238E27FC236}">
                <a16:creationId xmlns:a16="http://schemas.microsoft.com/office/drawing/2014/main" id="{405D0706-FCB6-3C57-001F-E71889B170D0}"/>
              </a:ext>
            </a:extLst>
          </p:cNvPr>
          <p:cNvPicPr>
            <a:picLocks noChangeAspect="1"/>
          </p:cNvPicPr>
          <p:nvPr/>
        </p:nvPicPr>
        <p:blipFill>
          <a:blip r:embed="rId3"/>
          <a:stretch>
            <a:fillRect/>
          </a:stretch>
        </p:blipFill>
        <p:spPr>
          <a:xfrm>
            <a:off x="781052" y="3678838"/>
            <a:ext cx="5245098" cy="1262103"/>
          </a:xfrm>
          <a:prstGeom prst="rect">
            <a:avLst/>
          </a:prstGeom>
          <a:ln>
            <a:solidFill>
              <a:schemeClr val="tx1"/>
            </a:solidFill>
          </a:ln>
        </p:spPr>
      </p:pic>
      <p:cxnSp>
        <p:nvCxnSpPr>
          <p:cNvPr id="18" name="Connector: Curved 17">
            <a:extLst>
              <a:ext uri="{FF2B5EF4-FFF2-40B4-BE49-F238E27FC236}">
                <a16:creationId xmlns:a16="http://schemas.microsoft.com/office/drawing/2014/main" id="{05ACB80F-C70F-08EC-0E65-73F1723E39B0}"/>
              </a:ext>
            </a:extLst>
          </p:cNvPr>
          <p:cNvCxnSpPr>
            <a:cxnSpLocks/>
          </p:cNvCxnSpPr>
          <p:nvPr/>
        </p:nvCxnSpPr>
        <p:spPr>
          <a:xfrm flipV="1">
            <a:off x="5562602" y="5048156"/>
            <a:ext cx="1028700" cy="711200"/>
          </a:xfrm>
          <a:prstGeom prst="curvedConnector3">
            <a:avLst/>
          </a:prstGeom>
          <a:ln>
            <a:tailEnd type="triangle"/>
          </a:ln>
        </p:spPr>
        <p:style>
          <a:lnRef idx="2">
            <a:schemeClr val="dk1"/>
          </a:lnRef>
          <a:fillRef idx="0">
            <a:schemeClr val="dk1"/>
          </a:fillRef>
          <a:effectRef idx="1">
            <a:schemeClr val="dk1"/>
          </a:effectRef>
          <a:fontRef idx="minor">
            <a:schemeClr val="tx1"/>
          </a:fontRef>
        </p:style>
      </p:cxnSp>
      <p:pic>
        <p:nvPicPr>
          <p:cNvPr id="22" name="Picture 21">
            <a:extLst>
              <a:ext uri="{FF2B5EF4-FFF2-40B4-BE49-F238E27FC236}">
                <a16:creationId xmlns:a16="http://schemas.microsoft.com/office/drawing/2014/main" id="{CA646A41-66DE-08F3-263E-BA681E58A6F2}"/>
              </a:ext>
            </a:extLst>
          </p:cNvPr>
          <p:cNvPicPr>
            <a:picLocks noChangeAspect="1"/>
          </p:cNvPicPr>
          <p:nvPr/>
        </p:nvPicPr>
        <p:blipFill>
          <a:blip r:embed="rId4"/>
          <a:stretch>
            <a:fillRect/>
          </a:stretch>
        </p:blipFill>
        <p:spPr>
          <a:xfrm>
            <a:off x="781052" y="5048156"/>
            <a:ext cx="9849090" cy="1670675"/>
          </a:xfrm>
          <a:prstGeom prst="rect">
            <a:avLst/>
          </a:prstGeom>
          <a:ln>
            <a:solidFill>
              <a:schemeClr val="tx1"/>
            </a:solidFill>
          </a:ln>
        </p:spPr>
      </p:pic>
      <p:cxnSp>
        <p:nvCxnSpPr>
          <p:cNvPr id="24" name="Connector: Curved 23">
            <a:extLst>
              <a:ext uri="{FF2B5EF4-FFF2-40B4-BE49-F238E27FC236}">
                <a16:creationId xmlns:a16="http://schemas.microsoft.com/office/drawing/2014/main" id="{6D51757E-C3A3-A0DC-AA22-DD6EA68B2C72}"/>
              </a:ext>
            </a:extLst>
          </p:cNvPr>
          <p:cNvCxnSpPr/>
          <p:nvPr/>
        </p:nvCxnSpPr>
        <p:spPr>
          <a:xfrm rot="16200000" flipH="1">
            <a:off x="6045200" y="4338104"/>
            <a:ext cx="584200" cy="342898"/>
          </a:xfrm>
          <a:prstGeom prst="curvedConnector3">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15551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D22A29-6500-FE36-F5DB-2864850A619F}"/>
              </a:ext>
            </a:extLst>
          </p:cNvPr>
          <p:cNvSpPr txBox="1"/>
          <p:nvPr/>
        </p:nvSpPr>
        <p:spPr>
          <a:xfrm>
            <a:off x="762000" y="1104900"/>
            <a:ext cx="4419600" cy="2000548"/>
          </a:xfrm>
          <a:prstGeom prst="rect">
            <a:avLst/>
          </a:prstGeom>
          <a:noFill/>
        </p:spPr>
        <p:txBody>
          <a:bodyPr wrap="square" rtlCol="0">
            <a:spAutoFit/>
          </a:bodyPr>
          <a:lstStyle/>
          <a:p>
            <a:r>
              <a:rPr lang="en-IN" sz="2400" b="1" dirty="0"/>
              <a:t>I found 5 duplicate Rows.</a:t>
            </a:r>
          </a:p>
          <a:p>
            <a:r>
              <a:rPr lang="en-IN" sz="2000" dirty="0"/>
              <a:t>To safely Removed them I created another table called “</a:t>
            </a:r>
            <a:r>
              <a:rPr lang="en-IN" sz="2000" dirty="0" err="1"/>
              <a:t>High_layoffs_one</a:t>
            </a:r>
            <a:r>
              <a:rPr lang="en-IN" sz="2000" dirty="0"/>
              <a:t>”</a:t>
            </a:r>
          </a:p>
          <a:p>
            <a:r>
              <a:rPr lang="en-IN" sz="2000" dirty="0"/>
              <a:t> Then I deleted the duplicate entries </a:t>
            </a:r>
          </a:p>
          <a:p>
            <a:r>
              <a:rPr lang="en-IN" sz="2000" dirty="0"/>
              <a:t>Where </a:t>
            </a:r>
            <a:r>
              <a:rPr lang="en-IN" sz="2000" dirty="0" err="1"/>
              <a:t>Row_num</a:t>
            </a:r>
            <a:r>
              <a:rPr lang="en-IN" sz="2000" dirty="0"/>
              <a:t> &gt; 1.</a:t>
            </a:r>
          </a:p>
        </p:txBody>
      </p:sp>
      <p:pic>
        <p:nvPicPr>
          <p:cNvPr id="6" name="Picture 5">
            <a:extLst>
              <a:ext uri="{FF2B5EF4-FFF2-40B4-BE49-F238E27FC236}">
                <a16:creationId xmlns:a16="http://schemas.microsoft.com/office/drawing/2014/main" id="{B38D3A97-F09B-AEA6-931F-B159E1B99DB3}"/>
              </a:ext>
            </a:extLst>
          </p:cNvPr>
          <p:cNvPicPr>
            <a:picLocks noChangeAspect="1"/>
          </p:cNvPicPr>
          <p:nvPr/>
        </p:nvPicPr>
        <p:blipFill>
          <a:blip r:embed="rId2"/>
          <a:stretch>
            <a:fillRect/>
          </a:stretch>
        </p:blipFill>
        <p:spPr>
          <a:xfrm>
            <a:off x="5460734" y="1397000"/>
            <a:ext cx="5181866" cy="2721040"/>
          </a:xfrm>
          <a:prstGeom prst="rect">
            <a:avLst/>
          </a:prstGeom>
          <a:ln>
            <a:solidFill>
              <a:schemeClr val="tx1"/>
            </a:solidFill>
          </a:ln>
        </p:spPr>
      </p:pic>
      <p:pic>
        <p:nvPicPr>
          <p:cNvPr id="8" name="Picture 7">
            <a:extLst>
              <a:ext uri="{FF2B5EF4-FFF2-40B4-BE49-F238E27FC236}">
                <a16:creationId xmlns:a16="http://schemas.microsoft.com/office/drawing/2014/main" id="{43838BF6-D491-C96E-0A2A-2B9D2FDA4D51}"/>
              </a:ext>
            </a:extLst>
          </p:cNvPr>
          <p:cNvPicPr>
            <a:picLocks noChangeAspect="1"/>
          </p:cNvPicPr>
          <p:nvPr/>
        </p:nvPicPr>
        <p:blipFill>
          <a:blip r:embed="rId3"/>
          <a:stretch>
            <a:fillRect/>
          </a:stretch>
        </p:blipFill>
        <p:spPr>
          <a:xfrm>
            <a:off x="576932" y="4572000"/>
            <a:ext cx="7017668" cy="889000"/>
          </a:xfrm>
          <a:prstGeom prst="rect">
            <a:avLst/>
          </a:prstGeom>
          <a:ln>
            <a:solidFill>
              <a:schemeClr val="tx1"/>
            </a:solidFill>
          </a:ln>
        </p:spPr>
      </p:pic>
    </p:spTree>
    <p:extLst>
      <p:ext uri="{BB962C8B-B14F-4D97-AF65-F5344CB8AC3E}">
        <p14:creationId xmlns:p14="http://schemas.microsoft.com/office/powerpoint/2010/main" val="1099384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8C26EB-A234-5D28-8270-7CB85284E90E}"/>
              </a:ext>
            </a:extLst>
          </p:cNvPr>
          <p:cNvSpPr txBox="1"/>
          <p:nvPr/>
        </p:nvSpPr>
        <p:spPr>
          <a:xfrm>
            <a:off x="304800" y="680720"/>
            <a:ext cx="6055360" cy="1692771"/>
          </a:xfrm>
          <a:prstGeom prst="rect">
            <a:avLst/>
          </a:prstGeom>
          <a:noFill/>
        </p:spPr>
        <p:txBody>
          <a:bodyPr wrap="square" rtlCol="0">
            <a:spAutoFit/>
          </a:bodyPr>
          <a:lstStyle/>
          <a:p>
            <a:r>
              <a:rPr lang="en-IN" sz="2400" b="1" dirty="0"/>
              <a:t>Standardizing Data</a:t>
            </a:r>
          </a:p>
          <a:p>
            <a:r>
              <a:rPr lang="en-IN" sz="2000" dirty="0"/>
              <a:t>Trimming White Spaces. Company</a:t>
            </a:r>
          </a:p>
          <a:p>
            <a:r>
              <a:rPr lang="en-IN" sz="2000" dirty="0"/>
              <a:t>Names had Extra spaces, so I used the </a:t>
            </a:r>
          </a:p>
          <a:p>
            <a:r>
              <a:rPr lang="en-IN" sz="2000" dirty="0"/>
              <a:t>Trim() function to clean them.</a:t>
            </a:r>
          </a:p>
          <a:p>
            <a:endParaRPr lang="en-IN" sz="2000" dirty="0"/>
          </a:p>
        </p:txBody>
      </p:sp>
      <p:pic>
        <p:nvPicPr>
          <p:cNvPr id="5" name="Picture 4">
            <a:extLst>
              <a:ext uri="{FF2B5EF4-FFF2-40B4-BE49-F238E27FC236}">
                <a16:creationId xmlns:a16="http://schemas.microsoft.com/office/drawing/2014/main" id="{7592CBE4-7333-431C-3BB5-D694C066C9C1}"/>
              </a:ext>
            </a:extLst>
          </p:cNvPr>
          <p:cNvPicPr>
            <a:picLocks noChangeAspect="1"/>
          </p:cNvPicPr>
          <p:nvPr/>
        </p:nvPicPr>
        <p:blipFill>
          <a:blip r:embed="rId2"/>
          <a:stretch>
            <a:fillRect/>
          </a:stretch>
        </p:blipFill>
        <p:spPr>
          <a:xfrm>
            <a:off x="406400" y="2231251"/>
            <a:ext cx="4913079" cy="1040269"/>
          </a:xfrm>
          <a:prstGeom prst="rect">
            <a:avLst/>
          </a:prstGeom>
          <a:ln>
            <a:solidFill>
              <a:schemeClr val="tx1"/>
            </a:solidFill>
          </a:ln>
        </p:spPr>
      </p:pic>
      <p:sp>
        <p:nvSpPr>
          <p:cNvPr id="6" name="TextBox 5">
            <a:extLst>
              <a:ext uri="{FF2B5EF4-FFF2-40B4-BE49-F238E27FC236}">
                <a16:creationId xmlns:a16="http://schemas.microsoft.com/office/drawing/2014/main" id="{B1402AEF-A317-F2D1-F11A-26CC7F1FEB7B}"/>
              </a:ext>
            </a:extLst>
          </p:cNvPr>
          <p:cNvSpPr txBox="1"/>
          <p:nvPr/>
        </p:nvSpPr>
        <p:spPr>
          <a:xfrm>
            <a:off x="444858" y="3673971"/>
            <a:ext cx="5092341" cy="923330"/>
          </a:xfrm>
          <a:prstGeom prst="rect">
            <a:avLst/>
          </a:prstGeom>
          <a:solidFill>
            <a:schemeClr val="bg1">
              <a:lumMod val="75000"/>
            </a:schemeClr>
          </a:solidFill>
          <a:ln>
            <a:solidFill>
              <a:schemeClr val="bg1">
                <a:lumMod val="75000"/>
              </a:schemeClr>
            </a:solidFill>
          </a:ln>
        </p:spPr>
        <p:txBody>
          <a:bodyPr wrap="square" rtlCol="0">
            <a:spAutoFit/>
          </a:bodyPr>
          <a:lstStyle/>
          <a:p>
            <a:r>
              <a:rPr lang="en-IN" dirty="0"/>
              <a:t>Handling Industry values I Found inconsistent values like Crypto written as Crypto.com</a:t>
            </a:r>
          </a:p>
          <a:p>
            <a:r>
              <a:rPr lang="en-IN" dirty="0"/>
              <a:t>I replace them with Standard term.</a:t>
            </a:r>
          </a:p>
        </p:txBody>
      </p:sp>
      <p:pic>
        <p:nvPicPr>
          <p:cNvPr id="8" name="Picture 7">
            <a:extLst>
              <a:ext uri="{FF2B5EF4-FFF2-40B4-BE49-F238E27FC236}">
                <a16:creationId xmlns:a16="http://schemas.microsoft.com/office/drawing/2014/main" id="{6836328F-D531-587B-E4F1-0C5DEA973EEA}"/>
              </a:ext>
            </a:extLst>
          </p:cNvPr>
          <p:cNvPicPr>
            <a:picLocks noChangeAspect="1"/>
          </p:cNvPicPr>
          <p:nvPr/>
        </p:nvPicPr>
        <p:blipFill>
          <a:blip r:embed="rId3"/>
          <a:stretch>
            <a:fillRect/>
          </a:stretch>
        </p:blipFill>
        <p:spPr>
          <a:xfrm>
            <a:off x="1818640" y="5602490"/>
            <a:ext cx="4612639" cy="1149580"/>
          </a:xfrm>
          <a:prstGeom prst="rect">
            <a:avLst/>
          </a:prstGeom>
          <a:ln>
            <a:solidFill>
              <a:schemeClr val="tx1"/>
            </a:solidFill>
          </a:ln>
        </p:spPr>
      </p:pic>
      <p:pic>
        <p:nvPicPr>
          <p:cNvPr id="10" name="Picture 9">
            <a:extLst>
              <a:ext uri="{FF2B5EF4-FFF2-40B4-BE49-F238E27FC236}">
                <a16:creationId xmlns:a16="http://schemas.microsoft.com/office/drawing/2014/main" id="{0DA22AA7-687E-D9FA-D5B3-25F7F66B485C}"/>
              </a:ext>
            </a:extLst>
          </p:cNvPr>
          <p:cNvPicPr>
            <a:picLocks noChangeAspect="1"/>
          </p:cNvPicPr>
          <p:nvPr/>
        </p:nvPicPr>
        <p:blipFill>
          <a:blip r:embed="rId4"/>
          <a:stretch>
            <a:fillRect/>
          </a:stretch>
        </p:blipFill>
        <p:spPr>
          <a:xfrm>
            <a:off x="4422287" y="4439919"/>
            <a:ext cx="4612639" cy="1005762"/>
          </a:xfrm>
          <a:prstGeom prst="rect">
            <a:avLst/>
          </a:prstGeom>
          <a:ln>
            <a:solidFill>
              <a:schemeClr val="tx1"/>
            </a:solidFill>
          </a:ln>
        </p:spPr>
      </p:pic>
      <p:sp>
        <p:nvSpPr>
          <p:cNvPr id="11" name="TextBox 10">
            <a:extLst>
              <a:ext uri="{FF2B5EF4-FFF2-40B4-BE49-F238E27FC236}">
                <a16:creationId xmlns:a16="http://schemas.microsoft.com/office/drawing/2014/main" id="{8E5242ED-7C07-3BC6-6664-76C8063AD9C1}"/>
              </a:ext>
            </a:extLst>
          </p:cNvPr>
          <p:cNvSpPr txBox="1"/>
          <p:nvPr/>
        </p:nvSpPr>
        <p:spPr>
          <a:xfrm>
            <a:off x="6725920" y="680720"/>
            <a:ext cx="4378960" cy="1200329"/>
          </a:xfrm>
          <a:prstGeom prst="rect">
            <a:avLst/>
          </a:prstGeom>
          <a:noFill/>
        </p:spPr>
        <p:txBody>
          <a:bodyPr wrap="square" rtlCol="0">
            <a:spAutoFit/>
          </a:bodyPr>
          <a:lstStyle/>
          <a:p>
            <a:r>
              <a:rPr lang="en-IN" dirty="0"/>
              <a:t>Handling Country Values Similarly the Country United States appeared as United States of America I Standardized this as well</a:t>
            </a:r>
          </a:p>
        </p:txBody>
      </p:sp>
      <p:pic>
        <p:nvPicPr>
          <p:cNvPr id="13" name="Picture 12">
            <a:extLst>
              <a:ext uri="{FF2B5EF4-FFF2-40B4-BE49-F238E27FC236}">
                <a16:creationId xmlns:a16="http://schemas.microsoft.com/office/drawing/2014/main" id="{2E7D01C2-E96E-B644-0028-39924267411E}"/>
              </a:ext>
            </a:extLst>
          </p:cNvPr>
          <p:cNvPicPr>
            <a:picLocks noChangeAspect="1"/>
          </p:cNvPicPr>
          <p:nvPr/>
        </p:nvPicPr>
        <p:blipFill>
          <a:blip r:embed="rId5"/>
          <a:stretch>
            <a:fillRect/>
          </a:stretch>
        </p:blipFill>
        <p:spPr>
          <a:xfrm>
            <a:off x="6872523" y="2043290"/>
            <a:ext cx="4324806" cy="1096149"/>
          </a:xfrm>
          <a:prstGeom prst="rect">
            <a:avLst/>
          </a:prstGeom>
          <a:ln>
            <a:solidFill>
              <a:schemeClr val="tx1"/>
            </a:solidFill>
          </a:ln>
        </p:spPr>
      </p:pic>
    </p:spTree>
    <p:extLst>
      <p:ext uri="{BB962C8B-B14F-4D97-AF65-F5344CB8AC3E}">
        <p14:creationId xmlns:p14="http://schemas.microsoft.com/office/powerpoint/2010/main" val="1278730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311EF-38B8-1A92-AB60-6BC726B4EF36}"/>
              </a:ext>
            </a:extLst>
          </p:cNvPr>
          <p:cNvSpPr txBox="1"/>
          <p:nvPr/>
        </p:nvSpPr>
        <p:spPr>
          <a:xfrm>
            <a:off x="985520" y="406400"/>
            <a:ext cx="4947920" cy="461665"/>
          </a:xfrm>
          <a:prstGeom prst="rect">
            <a:avLst/>
          </a:prstGeom>
          <a:noFill/>
        </p:spPr>
        <p:txBody>
          <a:bodyPr wrap="square" rtlCol="0">
            <a:spAutoFit/>
          </a:bodyPr>
          <a:lstStyle/>
          <a:p>
            <a:r>
              <a:rPr lang="en-IN" sz="2400" dirty="0"/>
              <a:t>Date Column Standardization </a:t>
            </a:r>
          </a:p>
        </p:txBody>
      </p:sp>
      <p:sp>
        <p:nvSpPr>
          <p:cNvPr id="3" name="TextBox 2">
            <a:extLst>
              <a:ext uri="{FF2B5EF4-FFF2-40B4-BE49-F238E27FC236}">
                <a16:creationId xmlns:a16="http://schemas.microsoft.com/office/drawing/2014/main" id="{02B52AB4-05FB-CD0A-ECFD-47A4BFB23484}"/>
              </a:ext>
            </a:extLst>
          </p:cNvPr>
          <p:cNvSpPr txBox="1"/>
          <p:nvPr/>
        </p:nvSpPr>
        <p:spPr>
          <a:xfrm>
            <a:off x="1696720" y="1107440"/>
            <a:ext cx="6990080" cy="1015663"/>
          </a:xfrm>
          <a:prstGeom prst="rect">
            <a:avLst/>
          </a:prstGeom>
          <a:noFill/>
        </p:spPr>
        <p:txBody>
          <a:bodyPr wrap="square" rtlCol="0">
            <a:spAutoFit/>
          </a:bodyPr>
          <a:lstStyle/>
          <a:p>
            <a:r>
              <a:rPr lang="en-IN" sz="2000" dirty="0"/>
              <a:t>Date column was stored in string I Converted into proper date format using </a:t>
            </a:r>
            <a:r>
              <a:rPr lang="en-IN" sz="2000" dirty="0" err="1"/>
              <a:t>string_to_date</a:t>
            </a:r>
            <a:r>
              <a:rPr lang="en-IN" sz="2000" dirty="0"/>
              <a:t>() and modify column datatype</a:t>
            </a:r>
          </a:p>
        </p:txBody>
      </p:sp>
      <p:pic>
        <p:nvPicPr>
          <p:cNvPr id="5" name="Picture 4">
            <a:extLst>
              <a:ext uri="{FF2B5EF4-FFF2-40B4-BE49-F238E27FC236}">
                <a16:creationId xmlns:a16="http://schemas.microsoft.com/office/drawing/2014/main" id="{25E44EC7-E604-F460-8A4F-37BCA9A33531}"/>
              </a:ext>
            </a:extLst>
          </p:cNvPr>
          <p:cNvPicPr>
            <a:picLocks noChangeAspect="1"/>
          </p:cNvPicPr>
          <p:nvPr/>
        </p:nvPicPr>
        <p:blipFill>
          <a:blip r:embed="rId2"/>
          <a:stretch>
            <a:fillRect/>
          </a:stretch>
        </p:blipFill>
        <p:spPr>
          <a:xfrm>
            <a:off x="1803400" y="2608909"/>
            <a:ext cx="6162040" cy="1865850"/>
          </a:xfrm>
          <a:prstGeom prst="rect">
            <a:avLst/>
          </a:prstGeom>
          <a:ln>
            <a:solidFill>
              <a:schemeClr val="tx1"/>
            </a:solidFill>
          </a:ln>
        </p:spPr>
      </p:pic>
    </p:spTree>
    <p:extLst>
      <p:ext uri="{BB962C8B-B14F-4D97-AF65-F5344CB8AC3E}">
        <p14:creationId xmlns:p14="http://schemas.microsoft.com/office/powerpoint/2010/main" val="2721535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E1F690-E83B-2047-7E34-8AE4DD7CD928}"/>
              </a:ext>
            </a:extLst>
          </p:cNvPr>
          <p:cNvSpPr txBox="1"/>
          <p:nvPr/>
        </p:nvSpPr>
        <p:spPr>
          <a:xfrm>
            <a:off x="650240" y="568960"/>
            <a:ext cx="6350000" cy="830997"/>
          </a:xfrm>
          <a:prstGeom prst="rect">
            <a:avLst/>
          </a:prstGeom>
          <a:noFill/>
        </p:spPr>
        <p:txBody>
          <a:bodyPr wrap="square" rtlCol="0">
            <a:spAutoFit/>
          </a:bodyPr>
          <a:lstStyle/>
          <a:p>
            <a:r>
              <a:rPr lang="en-IN" sz="2400" b="1" dirty="0"/>
              <a:t>Handling Null and </a:t>
            </a:r>
          </a:p>
          <a:p>
            <a:r>
              <a:rPr lang="en-IN" sz="2400" b="1" dirty="0"/>
              <a:t>Blank Values</a:t>
            </a:r>
          </a:p>
        </p:txBody>
      </p:sp>
      <p:sp>
        <p:nvSpPr>
          <p:cNvPr id="3" name="TextBox 2">
            <a:extLst>
              <a:ext uri="{FF2B5EF4-FFF2-40B4-BE49-F238E27FC236}">
                <a16:creationId xmlns:a16="http://schemas.microsoft.com/office/drawing/2014/main" id="{736E7118-3310-3604-19DC-0A92AFA9AD92}"/>
              </a:ext>
            </a:extLst>
          </p:cNvPr>
          <p:cNvSpPr txBox="1"/>
          <p:nvPr/>
        </p:nvSpPr>
        <p:spPr>
          <a:xfrm>
            <a:off x="650240" y="1399957"/>
            <a:ext cx="5110480" cy="646331"/>
          </a:xfrm>
          <a:prstGeom prst="rect">
            <a:avLst/>
          </a:prstGeom>
          <a:noFill/>
        </p:spPr>
        <p:txBody>
          <a:bodyPr wrap="square" rtlCol="0">
            <a:spAutoFit/>
          </a:bodyPr>
          <a:lstStyle/>
          <a:p>
            <a:r>
              <a:rPr lang="en-IN" dirty="0"/>
              <a:t>Industry Column I first Converted blank values to Null.</a:t>
            </a:r>
          </a:p>
        </p:txBody>
      </p:sp>
      <p:pic>
        <p:nvPicPr>
          <p:cNvPr id="5" name="Picture 4">
            <a:extLst>
              <a:ext uri="{FF2B5EF4-FFF2-40B4-BE49-F238E27FC236}">
                <a16:creationId xmlns:a16="http://schemas.microsoft.com/office/drawing/2014/main" id="{DBCD6229-E795-24AA-F0D3-518621A12D79}"/>
              </a:ext>
            </a:extLst>
          </p:cNvPr>
          <p:cNvPicPr>
            <a:picLocks noChangeAspect="1"/>
          </p:cNvPicPr>
          <p:nvPr/>
        </p:nvPicPr>
        <p:blipFill>
          <a:blip r:embed="rId2"/>
          <a:stretch>
            <a:fillRect/>
          </a:stretch>
        </p:blipFill>
        <p:spPr>
          <a:xfrm>
            <a:off x="6736080" y="809074"/>
            <a:ext cx="4805680" cy="1181765"/>
          </a:xfrm>
          <a:prstGeom prst="rect">
            <a:avLst/>
          </a:prstGeom>
          <a:ln>
            <a:solidFill>
              <a:schemeClr val="tx1"/>
            </a:solidFill>
          </a:ln>
        </p:spPr>
      </p:pic>
      <p:sp>
        <p:nvSpPr>
          <p:cNvPr id="6" name="TextBox 5">
            <a:extLst>
              <a:ext uri="{FF2B5EF4-FFF2-40B4-BE49-F238E27FC236}">
                <a16:creationId xmlns:a16="http://schemas.microsoft.com/office/drawing/2014/main" id="{EF42C9F9-F74B-9EFE-261C-093467163A32}"/>
              </a:ext>
            </a:extLst>
          </p:cNvPr>
          <p:cNvSpPr txBox="1"/>
          <p:nvPr/>
        </p:nvSpPr>
        <p:spPr>
          <a:xfrm>
            <a:off x="650240" y="2794000"/>
            <a:ext cx="5638800" cy="646331"/>
          </a:xfrm>
          <a:prstGeom prst="rect">
            <a:avLst/>
          </a:prstGeom>
          <a:noFill/>
        </p:spPr>
        <p:txBody>
          <a:bodyPr wrap="square" rtlCol="0">
            <a:spAutoFit/>
          </a:bodyPr>
          <a:lstStyle/>
          <a:p>
            <a:r>
              <a:rPr lang="en-IN" dirty="0"/>
              <a:t>Then, I filled The Null values using the Industry</a:t>
            </a:r>
          </a:p>
          <a:p>
            <a:r>
              <a:rPr lang="en-IN" dirty="0"/>
              <a:t>Of the same company from other rows</a:t>
            </a:r>
          </a:p>
        </p:txBody>
      </p:sp>
      <p:pic>
        <p:nvPicPr>
          <p:cNvPr id="8" name="Picture 7">
            <a:extLst>
              <a:ext uri="{FF2B5EF4-FFF2-40B4-BE49-F238E27FC236}">
                <a16:creationId xmlns:a16="http://schemas.microsoft.com/office/drawing/2014/main" id="{FA18C820-5BD4-FA21-A7B9-FED278D55A6E}"/>
              </a:ext>
            </a:extLst>
          </p:cNvPr>
          <p:cNvPicPr>
            <a:picLocks noChangeAspect="1"/>
          </p:cNvPicPr>
          <p:nvPr/>
        </p:nvPicPr>
        <p:blipFill>
          <a:blip r:embed="rId3"/>
          <a:stretch>
            <a:fillRect/>
          </a:stretch>
        </p:blipFill>
        <p:spPr>
          <a:xfrm>
            <a:off x="6736080" y="2489200"/>
            <a:ext cx="4805680" cy="1309401"/>
          </a:xfrm>
          <a:prstGeom prst="rect">
            <a:avLst/>
          </a:prstGeom>
          <a:ln>
            <a:solidFill>
              <a:schemeClr val="tx1"/>
            </a:solidFill>
          </a:ln>
        </p:spPr>
      </p:pic>
      <p:sp>
        <p:nvSpPr>
          <p:cNvPr id="9" name="TextBox 8">
            <a:extLst>
              <a:ext uri="{FF2B5EF4-FFF2-40B4-BE49-F238E27FC236}">
                <a16:creationId xmlns:a16="http://schemas.microsoft.com/office/drawing/2014/main" id="{C0DB2D99-BFA0-1E07-6BD3-998846040F80}"/>
              </a:ext>
            </a:extLst>
          </p:cNvPr>
          <p:cNvSpPr txBox="1"/>
          <p:nvPr/>
        </p:nvSpPr>
        <p:spPr>
          <a:xfrm>
            <a:off x="609602" y="4785360"/>
            <a:ext cx="5638800" cy="923330"/>
          </a:xfrm>
          <a:prstGeom prst="rect">
            <a:avLst/>
          </a:prstGeom>
          <a:noFill/>
        </p:spPr>
        <p:txBody>
          <a:bodyPr wrap="square" rtlCol="0">
            <a:spAutoFit/>
          </a:bodyPr>
          <a:lstStyle/>
          <a:p>
            <a:r>
              <a:rPr lang="en-IN" dirty="0"/>
              <a:t>Total laid off and Percentage Laid off Rows</a:t>
            </a:r>
          </a:p>
          <a:p>
            <a:r>
              <a:rPr lang="en-IN" dirty="0"/>
              <a:t>With both values as Null were not useful, so</a:t>
            </a:r>
          </a:p>
          <a:p>
            <a:r>
              <a:rPr lang="en-IN" dirty="0"/>
              <a:t>I delete them.</a:t>
            </a:r>
          </a:p>
        </p:txBody>
      </p:sp>
      <p:pic>
        <p:nvPicPr>
          <p:cNvPr id="11" name="Picture 10">
            <a:extLst>
              <a:ext uri="{FF2B5EF4-FFF2-40B4-BE49-F238E27FC236}">
                <a16:creationId xmlns:a16="http://schemas.microsoft.com/office/drawing/2014/main" id="{816E8A86-27DC-457D-2D52-CF3F77E131F9}"/>
              </a:ext>
            </a:extLst>
          </p:cNvPr>
          <p:cNvPicPr>
            <a:picLocks noChangeAspect="1"/>
          </p:cNvPicPr>
          <p:nvPr/>
        </p:nvPicPr>
        <p:blipFill>
          <a:blip r:embed="rId4"/>
          <a:stretch>
            <a:fillRect/>
          </a:stretch>
        </p:blipFill>
        <p:spPr>
          <a:xfrm>
            <a:off x="6736080" y="4494366"/>
            <a:ext cx="4805680" cy="1309401"/>
          </a:xfrm>
          <a:prstGeom prst="rect">
            <a:avLst/>
          </a:prstGeom>
          <a:ln>
            <a:solidFill>
              <a:schemeClr val="tx1"/>
            </a:solidFill>
          </a:ln>
        </p:spPr>
      </p:pic>
    </p:spTree>
    <p:extLst>
      <p:ext uri="{BB962C8B-B14F-4D97-AF65-F5344CB8AC3E}">
        <p14:creationId xmlns:p14="http://schemas.microsoft.com/office/powerpoint/2010/main" val="3277725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BD814D-5E5B-D24C-3C77-9BCD1A249757}"/>
              </a:ext>
            </a:extLst>
          </p:cNvPr>
          <p:cNvSpPr txBox="1"/>
          <p:nvPr/>
        </p:nvSpPr>
        <p:spPr>
          <a:xfrm>
            <a:off x="894080" y="701040"/>
            <a:ext cx="5201920" cy="461665"/>
          </a:xfrm>
          <a:prstGeom prst="rect">
            <a:avLst/>
          </a:prstGeom>
          <a:noFill/>
        </p:spPr>
        <p:txBody>
          <a:bodyPr wrap="square" rtlCol="0">
            <a:spAutoFit/>
          </a:bodyPr>
          <a:lstStyle/>
          <a:p>
            <a:r>
              <a:rPr lang="en-IN" sz="2400" b="1" dirty="0"/>
              <a:t>Final </a:t>
            </a:r>
            <a:r>
              <a:rPr lang="en-IN" sz="2400" b="1" dirty="0" err="1"/>
              <a:t>CleanUp</a:t>
            </a:r>
            <a:endParaRPr lang="en-IN" sz="2400" b="1" dirty="0"/>
          </a:p>
        </p:txBody>
      </p:sp>
      <p:sp>
        <p:nvSpPr>
          <p:cNvPr id="3" name="TextBox 2">
            <a:extLst>
              <a:ext uri="{FF2B5EF4-FFF2-40B4-BE49-F238E27FC236}">
                <a16:creationId xmlns:a16="http://schemas.microsoft.com/office/drawing/2014/main" id="{717910B1-6B74-6434-0B8D-8009F529CBAF}"/>
              </a:ext>
            </a:extLst>
          </p:cNvPr>
          <p:cNvSpPr txBox="1"/>
          <p:nvPr/>
        </p:nvSpPr>
        <p:spPr>
          <a:xfrm>
            <a:off x="1036320" y="1483360"/>
            <a:ext cx="7640320" cy="707886"/>
          </a:xfrm>
          <a:prstGeom prst="rect">
            <a:avLst/>
          </a:prstGeom>
          <a:noFill/>
        </p:spPr>
        <p:txBody>
          <a:bodyPr wrap="square" rtlCol="0">
            <a:spAutoFit/>
          </a:bodyPr>
          <a:lstStyle/>
          <a:p>
            <a:r>
              <a:rPr lang="en-IN" sz="2000" dirty="0"/>
              <a:t>After Cleaning, The </a:t>
            </a:r>
            <a:r>
              <a:rPr lang="en-IN" sz="2000" dirty="0" err="1"/>
              <a:t>Row_num</a:t>
            </a:r>
            <a:r>
              <a:rPr lang="en-IN" sz="2000" dirty="0"/>
              <a:t> column was no longer needed, so I Dropped it</a:t>
            </a:r>
            <a:r>
              <a:rPr lang="en-IN" dirty="0"/>
              <a:t>.</a:t>
            </a:r>
          </a:p>
        </p:txBody>
      </p:sp>
      <p:pic>
        <p:nvPicPr>
          <p:cNvPr id="5" name="Picture 4">
            <a:extLst>
              <a:ext uri="{FF2B5EF4-FFF2-40B4-BE49-F238E27FC236}">
                <a16:creationId xmlns:a16="http://schemas.microsoft.com/office/drawing/2014/main" id="{FC642E85-36D0-E814-3AEA-711A2023EA8F}"/>
              </a:ext>
            </a:extLst>
          </p:cNvPr>
          <p:cNvPicPr>
            <a:picLocks noChangeAspect="1"/>
          </p:cNvPicPr>
          <p:nvPr/>
        </p:nvPicPr>
        <p:blipFill>
          <a:blip r:embed="rId2"/>
          <a:stretch>
            <a:fillRect/>
          </a:stretch>
        </p:blipFill>
        <p:spPr>
          <a:xfrm>
            <a:off x="1036320" y="2577941"/>
            <a:ext cx="5618481" cy="1166614"/>
          </a:xfrm>
          <a:prstGeom prst="rect">
            <a:avLst/>
          </a:prstGeom>
          <a:ln>
            <a:solidFill>
              <a:schemeClr val="tx1"/>
            </a:solidFill>
          </a:ln>
        </p:spPr>
      </p:pic>
    </p:spTree>
    <p:extLst>
      <p:ext uri="{BB962C8B-B14F-4D97-AF65-F5344CB8AC3E}">
        <p14:creationId xmlns:p14="http://schemas.microsoft.com/office/powerpoint/2010/main" val="2729367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0BDE52-3872-3B9A-EB15-8E90294EF02C}"/>
              </a:ext>
            </a:extLst>
          </p:cNvPr>
          <p:cNvSpPr txBox="1"/>
          <p:nvPr/>
        </p:nvSpPr>
        <p:spPr>
          <a:xfrm>
            <a:off x="1026160" y="701040"/>
            <a:ext cx="5466080" cy="954107"/>
          </a:xfrm>
          <a:prstGeom prst="rect">
            <a:avLst/>
          </a:prstGeom>
          <a:noFill/>
        </p:spPr>
        <p:txBody>
          <a:bodyPr wrap="square" rtlCol="0">
            <a:spAutoFit/>
          </a:bodyPr>
          <a:lstStyle/>
          <a:p>
            <a:r>
              <a:rPr lang="en-IN" sz="2800" b="1" dirty="0"/>
              <a:t>Conclusion</a:t>
            </a:r>
            <a:r>
              <a:rPr lang="en-IN" sz="3200" dirty="0"/>
              <a:t>:</a:t>
            </a:r>
          </a:p>
          <a:p>
            <a:r>
              <a:rPr lang="en-IN" sz="2400" dirty="0"/>
              <a:t>Ready for Analysis</a:t>
            </a:r>
          </a:p>
        </p:txBody>
      </p:sp>
      <p:sp>
        <p:nvSpPr>
          <p:cNvPr id="3" name="TextBox 2">
            <a:extLst>
              <a:ext uri="{FF2B5EF4-FFF2-40B4-BE49-F238E27FC236}">
                <a16:creationId xmlns:a16="http://schemas.microsoft.com/office/drawing/2014/main" id="{6B4852EA-C215-3767-E179-D80FB0E9DD12}"/>
              </a:ext>
            </a:extLst>
          </p:cNvPr>
          <p:cNvSpPr txBox="1"/>
          <p:nvPr/>
        </p:nvSpPr>
        <p:spPr>
          <a:xfrm>
            <a:off x="1026160" y="1879600"/>
            <a:ext cx="10210800" cy="1600438"/>
          </a:xfrm>
          <a:prstGeom prst="rect">
            <a:avLst/>
          </a:prstGeom>
          <a:noFill/>
        </p:spPr>
        <p:txBody>
          <a:bodyPr wrap="square" rtlCol="0">
            <a:spAutoFit/>
          </a:bodyPr>
          <a:lstStyle/>
          <a:p>
            <a:r>
              <a:rPr lang="en-US" sz="2000" dirty="0"/>
              <a:t>The dataset is now fully cleaned—no duplicates, errors, or unnecessary data. Every column is properly formatted, missing values are taken care of, and dates are in the correct format. With this clean data, we're ready to explore patterns, trends, and insights through Exploratory Data Analysis (EDA).</a:t>
            </a:r>
          </a:p>
          <a:p>
            <a:endParaRPr lang="en-IN" dirty="0"/>
          </a:p>
        </p:txBody>
      </p:sp>
    </p:spTree>
    <p:extLst>
      <p:ext uri="{BB962C8B-B14F-4D97-AF65-F5344CB8AC3E}">
        <p14:creationId xmlns:p14="http://schemas.microsoft.com/office/powerpoint/2010/main" val="39515334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Reflection">
      <a:fillStyleLst>
        <a:solidFill>
          <a:schemeClr val="phClr"/>
        </a:solidFill>
        <a:gradFill rotWithShape="1">
          <a:gsLst>
            <a:gs pos="0">
              <a:schemeClr val="phClr">
                <a:tint val="50000"/>
                <a:alpha val="100000"/>
                <a:satMod val="140000"/>
                <a:lumMod val="105000"/>
              </a:schemeClr>
            </a:gs>
            <a:gs pos="41000">
              <a:schemeClr val="phClr">
                <a:tint val="57000"/>
                <a:satMod val="160000"/>
                <a:lumMod val="99000"/>
              </a:schemeClr>
            </a:gs>
            <a:gs pos="100000">
              <a:schemeClr val="phClr">
                <a:tint val="80000"/>
                <a:satMod val="180000"/>
                <a:lumMod val="104000"/>
              </a:schemeClr>
            </a:gs>
          </a:gsLst>
          <a:lin ang="5400000" scaled="1"/>
        </a:gradFill>
        <a:gradFill rotWithShape="1">
          <a:gsLst>
            <a:gs pos="0">
              <a:schemeClr val="phClr">
                <a:tint val="97000"/>
                <a:satMod val="115000"/>
                <a:lumMod val="114000"/>
              </a:schemeClr>
            </a:gs>
            <a:gs pos="60000">
              <a:schemeClr val="phClr">
                <a:tint val="100000"/>
                <a:shade val="96000"/>
                <a:satMod val="100000"/>
                <a:lumMod val="108000"/>
              </a:schemeClr>
            </a:gs>
            <a:gs pos="100000">
              <a:schemeClr val="phClr">
                <a:shade val="91000"/>
                <a:sat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38100" dist="25400" dir="5400000" rotWithShape="0">
              <a:srgbClr val="000000">
                <a:alpha val="28000"/>
              </a:srgbClr>
            </a:outerShdw>
          </a:effectLst>
        </a:effectStyle>
        <a:effectStyle>
          <a:effectLst>
            <a:outerShdw blurRad="50800" dist="31750" dir="5400000" sy="98000" rotWithShape="0">
              <a:srgbClr val="000000">
                <a:alpha val="47000"/>
              </a:srgbClr>
            </a:outerShdw>
          </a:effectLst>
          <a:scene3d>
            <a:camera prst="orthographicFront">
              <a:rot lat="0" lon="0" rev="0"/>
            </a:camera>
            <a:lightRig rig="twoPt" dir="t">
              <a:rot lat="0" lon="0" rev="4800000"/>
            </a:lightRig>
          </a:scene3d>
          <a:sp3d prstMaterial="matte">
            <a:bevelT w="25400" h="44450"/>
          </a:sp3d>
        </a:effectStyle>
        <a:effectStyle>
          <a:effectLst>
            <a:reflection blurRad="25400" stA="32000" endPos="28000" dist="8889" dir="5400000" sy="-100000" rotWithShape="0"/>
          </a:effectLst>
          <a:scene3d>
            <a:camera prst="orthographicFront">
              <a:rot lat="0" lon="0" rev="0"/>
            </a:camera>
            <a:lightRig rig="threePt" dir="t">
              <a:rot lat="0" lon="0" rev="4800000"/>
            </a:lightRig>
          </a:scene3d>
          <a:sp3d>
            <a:bevelT w="50800" h="25400"/>
          </a:sp3d>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313</TotalTime>
  <Words>560</Words>
  <Application>Microsoft Office PowerPoint</Application>
  <PresentationFormat>Widescreen</PresentationFormat>
  <Paragraphs>64</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Rockwell</vt:lpstr>
      <vt:lpstr>Rockwell Condensed</vt:lpstr>
      <vt:lpstr>Wingdings</vt:lpstr>
      <vt:lpstr>Wood Type</vt:lpstr>
      <vt:lpstr>Project : data cleaning in mysql</vt:lpstr>
      <vt:lpstr>PowerPoint Presentation</vt:lpstr>
      <vt:lpstr>Understanding the 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 data cleaning in mysql</dc:title>
  <dc:creator>hp</dc:creator>
  <cp:lastModifiedBy>hp</cp:lastModifiedBy>
  <cp:revision>11</cp:revision>
  <dcterms:created xsi:type="dcterms:W3CDTF">2025-03-15T02:47:13Z</dcterms:created>
  <dcterms:modified xsi:type="dcterms:W3CDTF">2025-05-03T04:58:39Z</dcterms:modified>
</cp:coreProperties>
</file>